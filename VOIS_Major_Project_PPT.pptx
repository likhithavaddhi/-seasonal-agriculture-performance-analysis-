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4253981" cy="861497"/>
          </a:xfrm>
        </p:spPr>
        <p:txBody>
          <a:bodyPr vert="horz" lIns="91440" tIns="45720" rIns="91440" bIns="45720" rtlCol="0" anchor="t">
            <a:normAutofit/>
          </a:bodyPr>
          <a:lstStyle/>
          <a:p>
            <a:pPr algn="r"/>
            <a:r>
              <a:rPr lang="en-US" b="0" dirty="0">
                <a:solidFill>
                  <a:schemeClr val="tx1"/>
                </a:solidFill>
              </a:rPr>
              <a:t>LIKHITHA VADDHI </a:t>
            </a:r>
            <a:endParaRPr lang="en-IN" b="0" dirty="0">
              <a:solidFill>
                <a:schemeClr val="tx1"/>
              </a:solidFill>
            </a:endParaRPr>
          </a:p>
          <a:p>
            <a:pPr algn="r"/>
            <a:r>
              <a:rPr lang="en-US" b="0" dirty="0">
                <a:solidFill>
                  <a:schemeClr val="tx1"/>
                </a:solidFill>
              </a:rPr>
              <a:t>PALLAVI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994233"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3847859" cy="646331"/>
          </a:xfrm>
          <a:prstGeom prst="rect">
            <a:avLst/>
          </a:prstGeom>
          <a:noFill/>
        </p:spPr>
        <p:txBody>
          <a:bodyPr wrap="square" rtlCol="0">
            <a:spAutoFit/>
          </a:bodyPr>
          <a:lstStyle/>
          <a:p>
            <a:r>
              <a:rPr lang="en-US" b="1" dirty="0"/>
              <a:t>AICTE STU ID : STU6825ae98cff401747299992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7"/>
            <a:ext cx="6431280" cy="3264410"/>
          </a:xfrm>
        </p:spPr>
        <p:txBody>
          <a:bodyPr vert="horz" lIns="91440" tIns="45720" rIns="91440" bIns="45720" rtlCol="0" anchor="t">
            <a:normAutofit fontScale="70000" lnSpcReduction="20000"/>
          </a:bodyPr>
          <a:lstStyle/>
          <a:p>
            <a:r>
              <a:rPr lang="en-IN" sz="2800" dirty="0"/>
              <a:t>Agricultural performance varies across seasons due to changes in </a:t>
            </a:r>
            <a:r>
              <a:rPr lang="en-IN" sz="2800" b="1" dirty="0"/>
              <a:t>environmental conditions, crop selection, farming practices, resource usage, and economic factors</a:t>
            </a:r>
            <a:r>
              <a:rPr lang="en-IN" sz="2800" dirty="0"/>
              <a:t>. However, it can be difficult to identify these seasonal patterns and understand their impact on crop yield, production, water efficiency, profitability, and disease/pest risk.</a:t>
            </a:r>
          </a:p>
          <a:p>
            <a:r>
              <a:rPr lang="en-IN" sz="2800" dirty="0"/>
              <a:t>This project aims to </a:t>
            </a:r>
            <a:r>
              <a:rPr lang="en-IN" sz="2800" b="1" dirty="0" err="1"/>
              <a:t>analyze</a:t>
            </a:r>
            <a:r>
              <a:rPr lang="en-IN" sz="2800" b="1" dirty="0"/>
              <a:t> seasonal agricultural data</a:t>
            </a:r>
            <a:r>
              <a:rPr lang="en-IN" sz="2800" dirty="0"/>
              <a:t> to identify meaningful patterns, relationships, and variations and provide </a:t>
            </a:r>
            <a:r>
              <a:rPr lang="en-IN" sz="2800" b="1" dirty="0"/>
              <a:t>data-driven insights for better agricultural planning and resource management</a:t>
            </a:r>
            <a:r>
              <a:rPr lang="en-IN" sz="2800" dirty="0"/>
              <a:t>.</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US" dirty="0"/>
            </a:br>
            <a:br>
              <a:rPr lang="en-US" dirty="0"/>
            </a:br>
            <a:r>
              <a:rPr lang="en-US" sz="1300" dirty="0"/>
              <a:t>**Seasonal Agriculture Performance Analysis** is a data analytics project that analyzes how agricultural performance varies across different seasons, crops, geographical regions, environmental conditions, farming practices, resource usage, and economic factors.</a:t>
            </a:r>
            <a:br>
              <a:rPr lang="en-US" sz="1300" dirty="0"/>
            </a:br>
            <a:br>
              <a:rPr lang="en-US" sz="1300" dirty="0"/>
            </a:br>
            <a:r>
              <a:rPr lang="en-US" sz="1300" dirty="0"/>
              <a:t>The project uses an agricultural dataset containing information such as rainfall, temperature, humidity, sunlight, soil conditions, fertilizer and pesticide usage, irrigation methods, water consumption, crop yield, production, market price, cost, revenue, profit, and disease/pest risk.</a:t>
            </a:r>
            <a:br>
              <a:rPr lang="en-US" sz="1300" dirty="0"/>
            </a:br>
            <a:br>
              <a:rPr lang="en-US" sz="1300" dirty="0"/>
            </a:br>
            <a:r>
              <a:rPr lang="en-US" sz="1300" dirty="0"/>
              <a:t>The dataset is cleaned and analyzed using exploratory data analysis, statistical techniques, correlation analysis, and data visualization. The project identifies seasonal patterns, compares crop performance, examines environmental and resource-related factors, evaluates economic outcomes, and studies disease and pest risk.</a:t>
            </a:r>
            <a:br>
              <a:rPr lang="en-US" sz="1300" dirty="0"/>
            </a:br>
            <a:br>
              <a:rPr lang="en-US" sz="1300" dirty="0"/>
            </a:br>
            <a:r>
              <a:rPr lang="en-US" sz="1300" dirty="0"/>
              <a:t>The analysis provides **evidence-based insights** that can support better seasonal planning, crop selection, resource allocation, irrigation management, and agricultural decision-making.</a:t>
            </a:r>
            <a:br>
              <a:rPr lang="en-GB" sz="1300" dirty="0"/>
            </a:br>
            <a:endParaRPr lang="en-IN" sz="13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586204"/>
            <a:ext cx="7904481" cy="4395179"/>
          </a:xfrm>
        </p:spPr>
        <p:txBody>
          <a:bodyPr>
            <a:normAutofit fontScale="92500" lnSpcReduction="10000"/>
          </a:bodyPr>
          <a:lstStyle/>
          <a:p>
            <a:pPr marL="0" indent="0" algn="just">
              <a:lnSpc>
                <a:spcPct val="150000"/>
              </a:lnSpc>
              <a:buNone/>
            </a:pPr>
            <a:endParaRPr lang="en-US" sz="1400" dirty="0"/>
          </a:p>
          <a:p>
            <a:pPr algn="just">
              <a:lnSpc>
                <a:spcPct val="150000"/>
              </a:lnSpc>
            </a:pPr>
            <a:endParaRPr lang="en-US" sz="1400" dirty="0"/>
          </a:p>
          <a:p>
            <a:pPr algn="just">
              <a:lnSpc>
                <a:spcPct val="150000"/>
              </a:lnSpc>
            </a:pPr>
            <a:r>
              <a:rPr lang="en-US" sz="1400" dirty="0"/>
              <a:t>* **Farmers** – To make better decisions about crop selection, irrigation, and seasonal planning.</a:t>
            </a:r>
          </a:p>
          <a:p>
            <a:pPr algn="just">
              <a:lnSpc>
                <a:spcPct val="150000"/>
              </a:lnSpc>
            </a:pPr>
            <a:r>
              <a:rPr lang="en-US" sz="1400" dirty="0"/>
              <a:t>* **Agricultural Officers** – To monitor agricultural performance and identify seasonal or regional variations.</a:t>
            </a:r>
          </a:p>
          <a:p>
            <a:pPr algn="just">
              <a:lnSpc>
                <a:spcPct val="150000"/>
              </a:lnSpc>
            </a:pPr>
            <a:r>
              <a:rPr lang="en-US" sz="1400" dirty="0"/>
              <a:t>* **Agricultural Planners** – To support evidence-based seasonal planning and resource allocation.</a:t>
            </a:r>
          </a:p>
          <a:p>
            <a:pPr algn="just">
              <a:lnSpc>
                <a:spcPct val="150000"/>
              </a:lnSpc>
            </a:pPr>
            <a:r>
              <a:rPr lang="en-US" sz="1400" dirty="0"/>
              <a:t>* **Agribusinesses** – To understand crop production, market prices, costs, revenue, and profitability.</a:t>
            </a:r>
          </a:p>
          <a:p>
            <a:pPr algn="just">
              <a:lnSpc>
                <a:spcPct val="150000"/>
              </a:lnSpc>
            </a:pPr>
            <a:r>
              <a:rPr lang="en-US" sz="1400" dirty="0"/>
              <a:t>* **Researchers &amp; Data Analysts** – To study relationships between environmental conditions, farming practices, resources, and agricultural outcomes.</a:t>
            </a:r>
          </a:p>
          <a:p>
            <a:pPr algn="just">
              <a:lnSpc>
                <a:spcPct val="150000"/>
              </a:lnSpc>
            </a:pPr>
            <a:r>
              <a:rPr lang="en-US" sz="1400" dirty="0"/>
              <a:t>* **Government &amp; Policy Makers** – To support data-driven agricultural planning and resource management.</a:t>
            </a:r>
            <a:endParaRPr lang="en-IN" sz="1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Effect transition="in" filter="fade">
                                      <p:cBhvr>
                                        <p:cTn id="35" dur="1000"/>
                                        <p:tgtEl>
                                          <p:spTgt spid="2">
                                            <p:txEl>
                                              <p:pRg st="5" end="5"/>
                                            </p:txEl>
                                          </p:spTgt>
                                        </p:tgtEl>
                                      </p:cBhvr>
                                    </p:animEffect>
                                    <p:anim calcmode="lin" valueType="num">
                                      <p:cBhvr>
                                        <p:cTn id="36"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1000"/>
                                        <p:tgtEl>
                                          <p:spTgt spid="2">
                                            <p:txEl>
                                              <p:pRg st="6" end="6"/>
                                            </p:txEl>
                                          </p:spTgt>
                                        </p:tgtEl>
                                      </p:cBhvr>
                                    </p:animEffect>
                                    <p:anim calcmode="lin" valueType="num">
                                      <p:cBhvr>
                                        <p:cTn id="4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Effect transition="in" filter="fade">
                                      <p:cBhvr>
                                        <p:cTn id="49" dur="1000"/>
                                        <p:tgtEl>
                                          <p:spTgt spid="2">
                                            <p:txEl>
                                              <p:pRg st="7" end="7"/>
                                            </p:txEl>
                                          </p:spTgt>
                                        </p:tgtEl>
                                      </p:cBhvr>
                                    </p:animEffect>
                                    <p:anim calcmode="lin" valueType="num">
                                      <p:cBhvr>
                                        <p:cTn id="50"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fontScale="85000" lnSpcReduction="10000"/>
          </a:bodyPr>
          <a:lstStyle/>
          <a:p>
            <a:pPr marL="457200" lvl="1" indent="0">
              <a:lnSpc>
                <a:spcPct val="150000"/>
              </a:lnSpc>
              <a:buNone/>
            </a:pPr>
            <a:endParaRPr lang="en-IN" dirty="0"/>
          </a:p>
          <a:p>
            <a:pPr lvl="1">
              <a:lnSpc>
                <a:spcPct val="150000"/>
              </a:lnSpc>
            </a:pPr>
            <a:r>
              <a:rPr lang="en-IN" dirty="0"/>
              <a:t>* **Python** – Data cleaning, preprocessing, analysis, and calculations</a:t>
            </a:r>
          </a:p>
          <a:p>
            <a:pPr lvl="1">
              <a:lnSpc>
                <a:spcPct val="150000"/>
              </a:lnSpc>
            </a:pPr>
            <a:r>
              <a:rPr lang="en-IN" dirty="0"/>
              <a:t>* **Pandas** – Data manipulation and dataset analysis</a:t>
            </a:r>
          </a:p>
          <a:p>
            <a:pPr lvl="1">
              <a:lnSpc>
                <a:spcPct val="150000"/>
              </a:lnSpc>
            </a:pPr>
            <a:r>
              <a:rPr lang="en-IN" dirty="0"/>
              <a:t>* **NumPy** – Numerical computations</a:t>
            </a:r>
          </a:p>
          <a:p>
            <a:pPr lvl="1">
              <a:lnSpc>
                <a:spcPct val="150000"/>
              </a:lnSpc>
            </a:pPr>
            <a:r>
              <a:rPr lang="en-IN" dirty="0"/>
              <a:t>* **Matplotlib** – Creating graphs and visualizations</a:t>
            </a:r>
          </a:p>
          <a:p>
            <a:pPr lvl="1">
              <a:lnSpc>
                <a:spcPct val="150000"/>
              </a:lnSpc>
            </a:pPr>
            <a:r>
              <a:rPr lang="en-IN" dirty="0"/>
              <a:t>* **SciPy** – Statistical analysis, including ANOVA</a:t>
            </a:r>
          </a:p>
          <a:p>
            <a:pPr lvl="1">
              <a:lnSpc>
                <a:spcPct val="150000"/>
              </a:lnSpc>
            </a:pPr>
            <a:r>
              <a:rPr lang="en-IN" dirty="0"/>
              <a:t>* **Google </a:t>
            </a:r>
            <a:r>
              <a:rPr lang="en-IN" dirty="0" err="1"/>
              <a:t>Colab</a:t>
            </a:r>
            <a:r>
              <a:rPr lang="en-IN" dirty="0"/>
              <a:t>** – Cloud-based environment for developing and running the analysis</a:t>
            </a:r>
          </a:p>
          <a:p>
            <a:pPr lvl="1">
              <a:lnSpc>
                <a:spcPct val="150000"/>
              </a:lnSpc>
            </a:pPr>
            <a:r>
              <a:rPr lang="en-IN" dirty="0"/>
              <a:t>* **CSV Dataset** – Source format for storing and processing agricultural data</a:t>
            </a:r>
          </a:p>
          <a:p>
            <a:pPr lvl="1">
              <a:lnSpc>
                <a:spcPct val="150000"/>
              </a:lnSpc>
            </a:pPr>
            <a:endParaRPr lang="en-IN" dirty="0"/>
          </a:p>
          <a:p>
            <a:pPr lvl="1">
              <a:lnSpc>
                <a:spcPct val="150000"/>
              </a:lnSpc>
            </a:pPr>
            <a:r>
              <a:rPr lang="en-IN" dirty="0"/>
              <a: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9" end="9"/>
                                            </p:txEl>
                                          </p:spTgt>
                                        </p:tgtEl>
                                        <p:attrNameLst>
                                          <p:attrName>style.visibility</p:attrName>
                                        </p:attrNameLst>
                                      </p:cBhvr>
                                      <p:to>
                                        <p:strVal val="visible"/>
                                      </p:to>
                                    </p:set>
                                    <p:animEffect transition="in" filter="fade">
                                      <p:cBhvr>
                                        <p:cTn id="63" dur="1000"/>
                                        <p:tgtEl>
                                          <p:spTgt spid="7">
                                            <p:txEl>
                                              <p:pRg st="9" end="9"/>
                                            </p:txEl>
                                          </p:spTgt>
                                        </p:tgtEl>
                                      </p:cBhvr>
                                    </p:animEffect>
                                    <p:anim calcmode="lin" valueType="num">
                                      <p:cBhvr>
                                        <p:cTn id="64"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4287623-8D07-3F1E-25E8-A22E3F166CD4}"/>
              </a:ext>
            </a:extLst>
          </p:cNvPr>
          <p:cNvPicPr>
            <a:picLocks noChangeAspect="1"/>
          </p:cNvPicPr>
          <p:nvPr/>
        </p:nvPicPr>
        <p:blipFill>
          <a:blip r:embed="rId3"/>
          <a:stretch>
            <a:fillRect/>
          </a:stretch>
        </p:blipFill>
        <p:spPr>
          <a:xfrm>
            <a:off x="522104" y="1275371"/>
            <a:ext cx="9449619" cy="508298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131AFCAD-F717-DAF2-1626-8917F04F9A8B}"/>
              </a:ext>
            </a:extLst>
          </p:cNvPr>
          <p:cNvPicPr>
            <a:picLocks noChangeAspect="1"/>
          </p:cNvPicPr>
          <p:nvPr/>
        </p:nvPicPr>
        <p:blipFill>
          <a:blip r:embed="rId3"/>
          <a:stretch>
            <a:fillRect/>
          </a:stretch>
        </p:blipFill>
        <p:spPr>
          <a:xfrm>
            <a:off x="644408" y="1431693"/>
            <a:ext cx="6721422" cy="451143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A2178C8-BCF6-5E45-BE26-23181C5BA218}"/>
              </a:ext>
            </a:extLst>
          </p:cNvPr>
          <p:cNvPicPr>
            <a:picLocks noChangeAspect="1"/>
          </p:cNvPicPr>
          <p:nvPr/>
        </p:nvPicPr>
        <p:blipFill>
          <a:blip r:embed="rId3"/>
          <a:stretch>
            <a:fillRect/>
          </a:stretch>
        </p:blipFill>
        <p:spPr>
          <a:xfrm>
            <a:off x="524487" y="1198423"/>
            <a:ext cx="8306520" cy="527349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494FDA1-91A0-04A2-0C69-BA153F7736B9}"/>
              </a:ext>
            </a:extLst>
          </p:cNvPr>
          <p:cNvPicPr>
            <a:picLocks noChangeAspect="1"/>
          </p:cNvPicPr>
          <p:nvPr/>
        </p:nvPicPr>
        <p:blipFill>
          <a:blip r:embed="rId3"/>
          <a:stretch>
            <a:fillRect/>
          </a:stretch>
        </p:blipFill>
        <p:spPr>
          <a:xfrm>
            <a:off x="320982" y="1142133"/>
            <a:ext cx="8634504" cy="542630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CB2713A-7C0C-A803-ABF2-B29F1FA6B9D3}"/>
              </a:ext>
            </a:extLst>
          </p:cNvPr>
          <p:cNvPicPr>
            <a:picLocks noChangeAspect="1"/>
          </p:cNvPicPr>
          <p:nvPr/>
        </p:nvPicPr>
        <p:blipFill>
          <a:blip r:embed="rId3"/>
          <a:stretch>
            <a:fillRect/>
          </a:stretch>
        </p:blipFill>
        <p:spPr>
          <a:xfrm>
            <a:off x="171693" y="1201586"/>
            <a:ext cx="9373524" cy="477815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7AD0636-139C-F9F5-F282-FF7CE21D78D8}"/>
              </a:ext>
            </a:extLst>
          </p:cNvPr>
          <p:cNvSpPr txBox="1"/>
          <p:nvPr/>
        </p:nvSpPr>
        <p:spPr>
          <a:xfrm>
            <a:off x="675957" y="1171508"/>
            <a:ext cx="10082239" cy="3139321"/>
          </a:xfrm>
          <a:prstGeom prst="rect">
            <a:avLst/>
          </a:prstGeom>
          <a:noFill/>
        </p:spPr>
        <p:txBody>
          <a:bodyPr wrap="square">
            <a:spAutoFit/>
          </a:bodyPr>
          <a:lstStyle/>
          <a:p>
            <a:pPr marL="342900" lvl="0" indent="-342900">
              <a:buFont typeface="Arial" panose="020B0604020202020204" pitchFamily="34" charset="0"/>
              <a:buChar char="•"/>
            </a:pPr>
            <a:r>
              <a:rPr lang="en-IN" b="1" dirty="0"/>
              <a:t>Machine Learning:</a:t>
            </a:r>
            <a:r>
              <a:rPr lang="en-IN" dirty="0"/>
              <a:t> Develop models to predict crop yield, profit, and disease/pest risk. </a:t>
            </a:r>
          </a:p>
          <a:p>
            <a:pPr marL="342900" lvl="0" indent="-342900">
              <a:buFont typeface="Arial" panose="020B0604020202020204" pitchFamily="34" charset="0"/>
              <a:buChar char="•"/>
            </a:pPr>
            <a:r>
              <a:rPr lang="en-IN" b="1" dirty="0"/>
              <a:t>Weather Integration:</a:t>
            </a:r>
            <a:r>
              <a:rPr lang="en-IN" dirty="0"/>
              <a:t> Use real-time weather and climate data for better seasonal analysis. </a:t>
            </a:r>
          </a:p>
          <a:p>
            <a:pPr marL="342900" lvl="0" indent="-342900">
              <a:buFont typeface="Arial" panose="020B0604020202020204" pitchFamily="34" charset="0"/>
              <a:buChar char="•"/>
            </a:pPr>
            <a:r>
              <a:rPr lang="en-IN" b="1" dirty="0"/>
              <a:t>Crop Recommendation:</a:t>
            </a:r>
            <a:r>
              <a:rPr lang="en-IN" dirty="0"/>
              <a:t> Build a system to recommend suitable crops based on soil and environmental conditions. </a:t>
            </a:r>
          </a:p>
          <a:p>
            <a:pPr marL="342900" lvl="0" indent="-342900">
              <a:buFont typeface="Arial" panose="020B0604020202020204" pitchFamily="34" charset="0"/>
              <a:buChar char="•"/>
            </a:pPr>
            <a:r>
              <a:rPr lang="en-IN" b="1" dirty="0"/>
              <a:t>Interactive Dashboard:</a:t>
            </a:r>
            <a:r>
              <a:rPr lang="en-IN" dirty="0"/>
              <a:t> Develop a Power BI or web-based dashboard for real-time monitoring. </a:t>
            </a:r>
          </a:p>
          <a:p>
            <a:pPr marL="342900" lvl="0" indent="-342900">
              <a:buFont typeface="Arial" panose="020B0604020202020204" pitchFamily="34" charset="0"/>
              <a:buChar char="•"/>
            </a:pPr>
            <a:r>
              <a:rPr lang="en-IN" b="1" dirty="0"/>
              <a:t>IoT Integration:</a:t>
            </a:r>
            <a:r>
              <a:rPr lang="en-IN" dirty="0"/>
              <a:t> Use sensors to monitor soil moisture, temperature, rainfall, and other field conditions. </a:t>
            </a:r>
          </a:p>
          <a:p>
            <a:pPr marL="342900" lvl="0" indent="-342900">
              <a:buFont typeface="Arial" panose="020B0604020202020204" pitchFamily="34" charset="0"/>
              <a:buChar char="•"/>
            </a:pPr>
            <a:r>
              <a:rPr lang="en-IN" b="1" dirty="0"/>
              <a:t>Smart Irrigation:</a:t>
            </a:r>
            <a:r>
              <a:rPr lang="en-IN" dirty="0"/>
              <a:t> Develop data-driven irrigation recommendations to reduce water wastage. </a:t>
            </a:r>
          </a:p>
          <a:p>
            <a:pPr marL="342900" lvl="0" indent="-342900">
              <a:buFont typeface="Arial" panose="020B0604020202020204" pitchFamily="34" charset="0"/>
              <a:buChar char="•"/>
            </a:pPr>
            <a:r>
              <a:rPr lang="en-IN" b="1" dirty="0"/>
              <a:t>Mobile Application:</a:t>
            </a:r>
            <a:r>
              <a:rPr lang="en-IN" dirty="0"/>
              <a:t> Create a mobile app to provide agricultural insights and recommendations directly to farmers.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https://github.com/Likhithavaddhi/-Seasonal-Agriculture-Performance-Analysis-/tree/main</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E2E674E-CE25-9DB5-B153-227906DE7ECD}"/>
              </a:ext>
            </a:extLst>
          </p:cNvPr>
          <p:cNvPicPr>
            <a:picLocks noChangeAspect="1"/>
          </p:cNvPicPr>
          <p:nvPr/>
        </p:nvPicPr>
        <p:blipFill>
          <a:blip r:embed="rId3"/>
          <a:stretch>
            <a:fillRect/>
          </a:stretch>
        </p:blipFill>
        <p:spPr>
          <a:xfrm>
            <a:off x="826206" y="1362269"/>
            <a:ext cx="7038975" cy="50292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1380</TotalTime>
  <Words>629</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**Seasonal Agriculture Performance Analysis** is a data analytics project that analyzes how agricultural performance varies across different seasons, crops, geographical regions, environmental conditions, farming practices, resource usage, and economic factors.  The project uses an agricultural dataset containing information such as rainfall, temperature, humidity, sunlight, soil conditions, fertilizer and pesticide usage, irrigation methods, water consumption, crop yield, production, market price, cost, revenue, profit, and disease/pest risk.  The dataset is cleaned and analyzed using exploratory data analysis, statistical techniques, correlation analysis, and data visualization. The project identifies seasonal patterns, compares crop performance, examines environmental and resource-related factors, evaluates economic outcomes, and studies disease and pest risk.  The analysis provides **evidence-based insights** that can support better seasonal planning, crop selection, resource allocation, irrigation management, and agricultural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LIKHITHA VADDHI</cp:lastModifiedBy>
  <cp:revision>99</cp:revision>
  <dcterms:created xsi:type="dcterms:W3CDTF">2021-07-11T13:13:15Z</dcterms:created>
  <dcterms:modified xsi:type="dcterms:W3CDTF">2026-09-12T09:16:18Z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